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96" r:id="rId5"/>
    <p:sldId id="297" r:id="rId6"/>
    <p:sldId id="261" r:id="rId7"/>
    <p:sldId id="298" r:id="rId8"/>
    <p:sldId id="304" r:id="rId9"/>
    <p:sldId id="285" r:id="rId10"/>
    <p:sldId id="299" r:id="rId11"/>
    <p:sldId id="300" r:id="rId12"/>
    <p:sldId id="302" r:id="rId13"/>
    <p:sldId id="301" r:id="rId14"/>
    <p:sldId id="303" r:id="rId15"/>
    <p:sldId id="28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87" autoAdjust="0"/>
  </p:normalViewPr>
  <p:slideViewPr>
    <p:cSldViewPr snapToGrid="0" showGuides="1">
      <p:cViewPr varScale="1">
        <p:scale>
          <a:sx n="75" d="100"/>
          <a:sy n="75" d="100"/>
        </p:scale>
        <p:origin x="974" y="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11/3/2025</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11/3/2025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5.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5.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8.webp"/><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b="0" dirty="0"/>
              <a:t>Project : SkillMatch Resume Matcher and Skill Recommendertegies</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1237488" y="4377943"/>
            <a:ext cx="10954512" cy="1307592"/>
          </a:xfrm>
        </p:spPr>
        <p:txBody>
          <a:bodyPr vert="horz" lIns="91440" tIns="45720" rIns="91440" bIns="45720" rtlCol="0" anchor="t">
            <a:noAutofit/>
          </a:bodyPr>
          <a:lstStyle/>
          <a:p>
            <a:pPr algn="r"/>
            <a:r>
              <a:rPr lang="en-US" dirty="0"/>
              <a:t>Presented by </a:t>
            </a:r>
            <a:r>
              <a:rPr lang="en-US" dirty="0" err="1"/>
              <a:t>A.Ezhilarasan</a:t>
            </a:r>
            <a:endParaRPr lang="en-US" dirty="0"/>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2" y="850392"/>
            <a:ext cx="3913632" cy="4800600"/>
          </a:xfrm>
          <a:noFill/>
        </p:spPr>
        <p:txBody>
          <a:bodyPr anchor="ct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358384" y="1965960"/>
            <a:ext cx="4050792" cy="2953512"/>
          </a:xfrm>
          <a:noFill/>
        </p:spPr>
        <p:txBody>
          <a:bodyPr>
            <a:noAutofit/>
          </a:bodyPr>
          <a:lstStyle/>
          <a:p>
            <a:pPr fontAlgn="base"/>
            <a:r>
              <a:rPr lang="en-US" dirty="0"/>
              <a:t>Artificial Intelligence (AI)</a:t>
            </a:r>
          </a:p>
          <a:p>
            <a:r>
              <a:rPr lang="en-US" dirty="0"/>
              <a:t>Machine Learning (ML)</a:t>
            </a:r>
          </a:p>
          <a:p>
            <a:r>
              <a:rPr lang="en-US" dirty="0" err="1"/>
              <a:t>Numpy</a:t>
            </a:r>
            <a:endParaRPr lang="en-US" dirty="0"/>
          </a:p>
          <a:p>
            <a:r>
              <a:rPr lang="en-US" dirty="0"/>
              <a:t>Pandas</a:t>
            </a:r>
          </a:p>
          <a:p>
            <a:r>
              <a:rPr lang="en-US" dirty="0"/>
              <a:t>Seaborn</a:t>
            </a:r>
          </a:p>
          <a:p>
            <a:r>
              <a:rPr lang="en-US" dirty="0"/>
              <a:t>Matplotlib </a:t>
            </a:r>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57072" y="193040"/>
            <a:ext cx="10277856" cy="802640"/>
          </a:xfrm>
          <a:noFill/>
        </p:spPr>
        <p:txBody>
          <a:bodyPr anchor="b">
            <a:noAutofit/>
          </a:bodyPr>
          <a:lstStyle/>
          <a:p>
            <a:pPr algn="ctr" fontAlgn="base"/>
            <a:r>
              <a:rPr lang="en-US" dirty="0"/>
              <a:t>What is Artificial Intelligence (AI) ?</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957072" y="5110480"/>
            <a:ext cx="10546080" cy="1244600"/>
          </a:xfrm>
          <a:noFill/>
        </p:spPr>
        <p:txBody>
          <a:bodyPr>
            <a:noAutofit/>
          </a:bodyPr>
          <a:lstStyle/>
          <a:p>
            <a:r>
              <a:rPr lang="en-US" i="1" dirty="0"/>
              <a:t>Artificial Intelligence (AI) is the ability of machines to mimic human intelligence like learning, reasoning, and decision-making—to solve problems or perform tasks. </a:t>
            </a:r>
            <a:endParaRPr lang="en-US" dirty="0"/>
          </a:p>
          <a:p>
            <a:r>
              <a:rPr lang="en-US" i="1" dirty="0"/>
              <a:t> For example, AI powers virtual assistants like Siri or </a:t>
            </a:r>
            <a:r>
              <a:rPr lang="en-US" i="1" dirty="0" err="1"/>
              <a:t>Copilot,which</a:t>
            </a:r>
            <a:r>
              <a:rPr lang="en-US" i="1" dirty="0"/>
              <a:t> understand voice commands and respond intelligently.</a:t>
            </a:r>
            <a:endParaRPr lang="en-US" dirty="0"/>
          </a:p>
          <a:p>
            <a:endParaRPr lang="en-US" dirty="0"/>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sp>
        <p:nvSpPr>
          <p:cNvPr id="6" name="AutoShape 8" descr="What is AI? Understanding Artificial Intelligence and Its Real-World Impact">
            <a:extLst>
              <a:ext uri="{FF2B5EF4-FFF2-40B4-BE49-F238E27FC236}">
                <a16:creationId xmlns:a16="http://schemas.microsoft.com/office/drawing/2014/main" id="{CCC3667D-CB6F-ABFB-92D0-88B4227361A2}"/>
              </a:ext>
            </a:extLst>
          </p:cNvPr>
          <p:cNvSpPr>
            <a:spLocks noChangeAspect="1" noChangeArrowheads="1"/>
          </p:cNvSpPr>
          <p:nvPr/>
        </p:nvSpPr>
        <p:spPr bwMode="auto">
          <a:xfrm>
            <a:off x="957072" y="995680"/>
            <a:ext cx="10277856" cy="37490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1715938D-01CD-FA5D-FCC5-6B212E8AD844}"/>
              </a:ext>
            </a:extLst>
          </p:cNvPr>
          <p:cNvPicPr>
            <a:picLocks noChangeAspect="1"/>
          </p:cNvPicPr>
          <p:nvPr/>
        </p:nvPicPr>
        <p:blipFill>
          <a:blip r:embed="rId2"/>
          <a:stretch>
            <a:fillRect/>
          </a:stretch>
        </p:blipFill>
        <p:spPr>
          <a:xfrm>
            <a:off x="2123440" y="995680"/>
            <a:ext cx="7945120" cy="3734206"/>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C90B4C15-8C87-4475-845B-B706E950C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AB890-3DF2-8AB1-E4DF-3431CE9CDE9F}"/>
              </a:ext>
            </a:extLst>
          </p:cNvPr>
          <p:cNvSpPr>
            <a:spLocks noGrp="1"/>
          </p:cNvSpPr>
          <p:nvPr>
            <p:ph type="title"/>
          </p:nvPr>
        </p:nvSpPr>
        <p:spPr>
          <a:xfrm>
            <a:off x="957072" y="193040"/>
            <a:ext cx="10277856" cy="802640"/>
          </a:xfrm>
          <a:noFill/>
        </p:spPr>
        <p:txBody>
          <a:bodyPr anchor="b">
            <a:noAutofit/>
          </a:bodyPr>
          <a:lstStyle/>
          <a:p>
            <a:pPr algn="ctr" fontAlgn="base"/>
            <a:r>
              <a:rPr lang="en-US" dirty="0"/>
              <a:t>What is Machine Learning (ML) ?</a:t>
            </a:r>
          </a:p>
        </p:txBody>
      </p:sp>
      <p:sp>
        <p:nvSpPr>
          <p:cNvPr id="3" name="Content Placeholder 2">
            <a:extLst>
              <a:ext uri="{FF2B5EF4-FFF2-40B4-BE49-F238E27FC236}">
                <a16:creationId xmlns:a16="http://schemas.microsoft.com/office/drawing/2014/main" id="{D6E7B63A-BAB0-DF41-E152-94BD3F1709D0}"/>
              </a:ext>
            </a:extLst>
          </p:cNvPr>
          <p:cNvSpPr>
            <a:spLocks noGrp="1"/>
          </p:cNvSpPr>
          <p:nvPr>
            <p:ph idx="1"/>
          </p:nvPr>
        </p:nvSpPr>
        <p:spPr>
          <a:xfrm>
            <a:off x="957072" y="4970939"/>
            <a:ext cx="10546080" cy="1244600"/>
          </a:xfrm>
          <a:noFill/>
        </p:spPr>
        <p:txBody>
          <a:bodyPr>
            <a:noAutofit/>
          </a:bodyPr>
          <a:lstStyle/>
          <a:p>
            <a:r>
              <a:rPr lang="en-US" b="1" dirty="0"/>
              <a:t>Machine Learning</a:t>
            </a:r>
            <a:r>
              <a:rPr lang="en-US" dirty="0"/>
              <a:t>, is a subset of Artificial Intelligence (AI) that focuses on enabling computers to learn from data and improve their performance on specific tasks without being explicitly programmed. It involves the development of algorithms that can identify patterns, make predictions, and adapt to new data over time.</a:t>
            </a:r>
          </a:p>
        </p:txBody>
      </p:sp>
      <p:sp>
        <p:nvSpPr>
          <p:cNvPr id="10" name="Slide Number Placeholder 9">
            <a:extLst>
              <a:ext uri="{FF2B5EF4-FFF2-40B4-BE49-F238E27FC236}">
                <a16:creationId xmlns:a16="http://schemas.microsoft.com/office/drawing/2014/main" id="{21BDC877-F771-B5AB-68B4-5100C88AD83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4</a:t>
            </a:fld>
            <a:endParaRPr lang="en-US" dirty="0"/>
          </a:p>
        </p:txBody>
      </p:sp>
      <p:sp>
        <p:nvSpPr>
          <p:cNvPr id="6" name="AutoShape 8" descr="What is AI? Understanding Artificial Intelligence and Its Real-World Impact">
            <a:extLst>
              <a:ext uri="{FF2B5EF4-FFF2-40B4-BE49-F238E27FC236}">
                <a16:creationId xmlns:a16="http://schemas.microsoft.com/office/drawing/2014/main" id="{31B5D10D-0706-8111-7FD7-223B8A4A80ED}"/>
              </a:ext>
            </a:extLst>
          </p:cNvPr>
          <p:cNvSpPr>
            <a:spLocks noChangeAspect="1" noChangeArrowheads="1"/>
          </p:cNvSpPr>
          <p:nvPr/>
        </p:nvSpPr>
        <p:spPr bwMode="auto">
          <a:xfrm>
            <a:off x="957072" y="995680"/>
            <a:ext cx="10277856" cy="37490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descr="Data Story: Overview of ML Pipelines">
            <a:extLst>
              <a:ext uri="{FF2B5EF4-FFF2-40B4-BE49-F238E27FC236}">
                <a16:creationId xmlns:a16="http://schemas.microsoft.com/office/drawing/2014/main" id="{D6A951F2-1B02-11DA-0424-47C91E852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020" y="949801"/>
            <a:ext cx="8110220" cy="3840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574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3FD9E7C9-C6EC-9850-CB58-BCE174F9C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4F40D-8A94-8151-1B5C-0A09C07B398F}"/>
              </a:ext>
            </a:extLst>
          </p:cNvPr>
          <p:cNvSpPr>
            <a:spLocks noGrp="1"/>
          </p:cNvSpPr>
          <p:nvPr>
            <p:ph type="title"/>
          </p:nvPr>
        </p:nvSpPr>
        <p:spPr>
          <a:xfrm>
            <a:off x="957072" y="193040"/>
            <a:ext cx="10277856" cy="802640"/>
          </a:xfrm>
          <a:noFill/>
        </p:spPr>
        <p:txBody>
          <a:bodyPr anchor="b">
            <a:noAutofit/>
          </a:bodyPr>
          <a:lstStyle/>
          <a:p>
            <a:pPr algn="ctr" fontAlgn="base"/>
            <a:r>
              <a:rPr lang="en-US" dirty="0"/>
              <a:t>Application Machine Learning (ML) </a:t>
            </a:r>
          </a:p>
        </p:txBody>
      </p:sp>
      <p:sp>
        <p:nvSpPr>
          <p:cNvPr id="10" name="Slide Number Placeholder 9">
            <a:extLst>
              <a:ext uri="{FF2B5EF4-FFF2-40B4-BE49-F238E27FC236}">
                <a16:creationId xmlns:a16="http://schemas.microsoft.com/office/drawing/2014/main" id="{3331CED0-9A3D-AFEA-14C8-1A371E7C29B5}"/>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5</a:t>
            </a:fld>
            <a:endParaRPr lang="en-US" dirty="0"/>
          </a:p>
        </p:txBody>
      </p:sp>
      <p:sp>
        <p:nvSpPr>
          <p:cNvPr id="6" name="AutoShape 8" descr="What is AI? Understanding Artificial Intelligence and Its Real-World Impact">
            <a:extLst>
              <a:ext uri="{FF2B5EF4-FFF2-40B4-BE49-F238E27FC236}">
                <a16:creationId xmlns:a16="http://schemas.microsoft.com/office/drawing/2014/main" id="{3F74E26B-7052-9693-0B43-AE663438F882}"/>
              </a:ext>
            </a:extLst>
          </p:cNvPr>
          <p:cNvSpPr>
            <a:spLocks noChangeAspect="1" noChangeArrowheads="1"/>
          </p:cNvSpPr>
          <p:nvPr/>
        </p:nvSpPr>
        <p:spPr bwMode="auto">
          <a:xfrm>
            <a:off x="957072" y="995680"/>
            <a:ext cx="10277856" cy="37490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58E1DA0-6C68-355E-44F5-F1A6728BC586}"/>
              </a:ext>
            </a:extLst>
          </p:cNvPr>
          <p:cNvPicPr>
            <a:picLocks noChangeAspect="1"/>
          </p:cNvPicPr>
          <p:nvPr/>
        </p:nvPicPr>
        <p:blipFill>
          <a:blip r:embed="rId2"/>
          <a:stretch>
            <a:fillRect/>
          </a:stretch>
        </p:blipFill>
        <p:spPr>
          <a:xfrm>
            <a:off x="1998411" y="1320788"/>
            <a:ext cx="8195177" cy="4917106"/>
          </a:xfrm>
          <a:prstGeom prst="rect">
            <a:avLst/>
          </a:prstGeom>
        </p:spPr>
      </p:pic>
      <p:sp>
        <p:nvSpPr>
          <p:cNvPr id="8" name="Content Placeholder 7">
            <a:extLst>
              <a:ext uri="{FF2B5EF4-FFF2-40B4-BE49-F238E27FC236}">
                <a16:creationId xmlns:a16="http://schemas.microsoft.com/office/drawing/2014/main" id="{B0B22365-7341-9AB7-CCA4-5E3BB8CBDD8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81573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101600" y="152400"/>
            <a:ext cx="2955544" cy="830072"/>
          </a:xfrm>
          <a:noFill/>
        </p:spPr>
        <p:txBody>
          <a:bodyPr>
            <a:noAutofit/>
          </a:bodyPr>
          <a:lstStyle/>
          <a:p>
            <a:r>
              <a:rPr lang="en-US" dirty="0"/>
              <a:t>NUMPY</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396241" y="982472"/>
            <a:ext cx="11795760" cy="653288"/>
          </a:xfrm>
          <a:noFill/>
        </p:spPr>
        <p:txBody>
          <a:bodyPr>
            <a:noAutofit/>
          </a:bodyPr>
          <a:lstStyle/>
          <a:p>
            <a:pPr algn="just"/>
            <a:r>
              <a:rPr lang="en-US" sz="2000" dirty="0"/>
              <a:t>NumPy is a Python library for fast numerical computing, especially with arrays and matrices. It powers data science, ML, and scientific analysis.</a:t>
            </a:r>
          </a:p>
        </p:txBody>
      </p:sp>
      <p:pic>
        <p:nvPicPr>
          <p:cNvPr id="5" name="Picture 4">
            <a:extLst>
              <a:ext uri="{FF2B5EF4-FFF2-40B4-BE49-F238E27FC236}">
                <a16:creationId xmlns:a16="http://schemas.microsoft.com/office/drawing/2014/main" id="{9BE4380E-6EA1-AC75-38F0-C110A96C6E1F}"/>
              </a:ext>
            </a:extLst>
          </p:cNvPr>
          <p:cNvPicPr>
            <a:picLocks noChangeAspect="1"/>
          </p:cNvPicPr>
          <p:nvPr/>
        </p:nvPicPr>
        <p:blipFill>
          <a:blip r:embed="rId2"/>
          <a:stretch>
            <a:fillRect/>
          </a:stretch>
        </p:blipFill>
        <p:spPr>
          <a:xfrm>
            <a:off x="508001" y="1635760"/>
            <a:ext cx="3880185" cy="5241036"/>
          </a:xfrm>
          <a:prstGeom prst="rect">
            <a:avLst/>
          </a:prstGeom>
        </p:spPr>
      </p:pic>
      <p:pic>
        <p:nvPicPr>
          <p:cNvPr id="7" name="Picture 6">
            <a:extLst>
              <a:ext uri="{FF2B5EF4-FFF2-40B4-BE49-F238E27FC236}">
                <a16:creationId xmlns:a16="http://schemas.microsoft.com/office/drawing/2014/main" id="{082B8BB9-C15F-BF77-CC9C-32F60F33E745}"/>
              </a:ext>
            </a:extLst>
          </p:cNvPr>
          <p:cNvPicPr>
            <a:picLocks noChangeAspect="1"/>
          </p:cNvPicPr>
          <p:nvPr/>
        </p:nvPicPr>
        <p:blipFill>
          <a:blip r:embed="rId3"/>
          <a:stretch>
            <a:fillRect/>
          </a:stretch>
        </p:blipFill>
        <p:spPr>
          <a:xfrm>
            <a:off x="4447882" y="1635760"/>
            <a:ext cx="3659798" cy="5222240"/>
          </a:xfrm>
          <a:prstGeom prst="rect">
            <a:avLst/>
          </a:prstGeom>
        </p:spPr>
      </p:pic>
      <p:pic>
        <p:nvPicPr>
          <p:cNvPr id="9" name="Picture 8">
            <a:extLst>
              <a:ext uri="{FF2B5EF4-FFF2-40B4-BE49-F238E27FC236}">
                <a16:creationId xmlns:a16="http://schemas.microsoft.com/office/drawing/2014/main" id="{4C6895B9-11B4-1703-14F6-2C69E155B84D}"/>
              </a:ext>
            </a:extLst>
          </p:cNvPr>
          <p:cNvPicPr>
            <a:picLocks noChangeAspect="1"/>
          </p:cNvPicPr>
          <p:nvPr/>
        </p:nvPicPr>
        <p:blipFill>
          <a:blip r:embed="rId4"/>
          <a:stretch>
            <a:fillRect/>
          </a:stretch>
        </p:blipFill>
        <p:spPr>
          <a:xfrm>
            <a:off x="8205133" y="1635760"/>
            <a:ext cx="3788747" cy="6531356"/>
          </a:xfrm>
          <a:prstGeom prst="rect">
            <a:avLst/>
          </a:prstGeom>
        </p:spPr>
      </p:pic>
    </p:spTree>
    <p:extLst>
      <p:ext uri="{BB962C8B-B14F-4D97-AF65-F5344CB8AC3E}">
        <p14:creationId xmlns:p14="http://schemas.microsoft.com/office/powerpoint/2010/main" val="1371737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5CAA1-659C-64DA-7E2C-A8D3C5D8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D4C3C-A282-573D-50F8-FC40272F03C8}"/>
              </a:ext>
            </a:extLst>
          </p:cNvPr>
          <p:cNvSpPr>
            <a:spLocks noGrp="1"/>
          </p:cNvSpPr>
          <p:nvPr>
            <p:ph type="ctrTitle"/>
          </p:nvPr>
        </p:nvSpPr>
        <p:spPr>
          <a:xfrm>
            <a:off x="101600" y="152400"/>
            <a:ext cx="3190240" cy="830072"/>
          </a:xfrm>
          <a:noFill/>
        </p:spPr>
        <p:txBody>
          <a:bodyPr>
            <a:noAutofit/>
          </a:bodyPr>
          <a:lstStyle/>
          <a:p>
            <a:r>
              <a:rPr lang="en-US" dirty="0"/>
              <a:t>PANDAS</a:t>
            </a:r>
          </a:p>
        </p:txBody>
      </p:sp>
      <p:sp>
        <p:nvSpPr>
          <p:cNvPr id="3" name="Subtitle 2">
            <a:extLst>
              <a:ext uri="{FF2B5EF4-FFF2-40B4-BE49-F238E27FC236}">
                <a16:creationId xmlns:a16="http://schemas.microsoft.com/office/drawing/2014/main" id="{76AADA88-1C86-2AC4-C5EA-1C1DA7A4B724}"/>
              </a:ext>
            </a:extLst>
          </p:cNvPr>
          <p:cNvSpPr>
            <a:spLocks noGrp="1"/>
          </p:cNvSpPr>
          <p:nvPr>
            <p:ph type="subTitle" idx="1"/>
          </p:nvPr>
        </p:nvSpPr>
        <p:spPr>
          <a:xfrm>
            <a:off x="396241" y="982472"/>
            <a:ext cx="11795760" cy="653288"/>
          </a:xfrm>
          <a:noFill/>
        </p:spPr>
        <p:txBody>
          <a:bodyPr>
            <a:noAutofit/>
          </a:bodyPr>
          <a:lstStyle/>
          <a:p>
            <a:pPr algn="just"/>
            <a:r>
              <a:rPr lang="en-US" sz="2000" dirty="0"/>
              <a:t>Pandas is a Python library for fast, flexible data analysis using tables and labeled arrays. It handles cleaning, filtering, grouping, and file I/O for structured data.</a:t>
            </a:r>
          </a:p>
        </p:txBody>
      </p:sp>
      <p:pic>
        <p:nvPicPr>
          <p:cNvPr id="9" name="Picture 8">
            <a:extLst>
              <a:ext uri="{FF2B5EF4-FFF2-40B4-BE49-F238E27FC236}">
                <a16:creationId xmlns:a16="http://schemas.microsoft.com/office/drawing/2014/main" id="{05151127-67C3-48FE-16E7-E4DB2643A0BC}"/>
              </a:ext>
            </a:extLst>
          </p:cNvPr>
          <p:cNvPicPr>
            <a:picLocks noChangeAspect="1"/>
          </p:cNvPicPr>
          <p:nvPr/>
        </p:nvPicPr>
        <p:blipFill>
          <a:blip r:embed="rId2"/>
          <a:stretch>
            <a:fillRect/>
          </a:stretch>
        </p:blipFill>
        <p:spPr>
          <a:xfrm>
            <a:off x="8142705" y="1635760"/>
            <a:ext cx="3788747" cy="5251196"/>
          </a:xfrm>
          <a:prstGeom prst="rect">
            <a:avLst/>
          </a:prstGeom>
        </p:spPr>
      </p:pic>
      <p:pic>
        <p:nvPicPr>
          <p:cNvPr id="6" name="Picture 5">
            <a:extLst>
              <a:ext uri="{FF2B5EF4-FFF2-40B4-BE49-F238E27FC236}">
                <a16:creationId xmlns:a16="http://schemas.microsoft.com/office/drawing/2014/main" id="{C7C5453B-3104-497F-A4E2-93A2254CAF08}"/>
              </a:ext>
            </a:extLst>
          </p:cNvPr>
          <p:cNvPicPr>
            <a:picLocks noChangeAspect="1"/>
          </p:cNvPicPr>
          <p:nvPr/>
        </p:nvPicPr>
        <p:blipFill>
          <a:blip r:embed="rId3"/>
          <a:stretch>
            <a:fillRect/>
          </a:stretch>
        </p:blipFill>
        <p:spPr>
          <a:xfrm>
            <a:off x="628454" y="1635760"/>
            <a:ext cx="3201111" cy="5251196"/>
          </a:xfrm>
          <a:prstGeom prst="rect">
            <a:avLst/>
          </a:prstGeom>
        </p:spPr>
      </p:pic>
      <p:pic>
        <p:nvPicPr>
          <p:cNvPr id="10" name="Picture 9">
            <a:extLst>
              <a:ext uri="{FF2B5EF4-FFF2-40B4-BE49-F238E27FC236}">
                <a16:creationId xmlns:a16="http://schemas.microsoft.com/office/drawing/2014/main" id="{9D5C01A6-A08F-A0A5-D90C-1077D4C19167}"/>
              </a:ext>
            </a:extLst>
          </p:cNvPr>
          <p:cNvPicPr>
            <a:picLocks noChangeAspect="1"/>
          </p:cNvPicPr>
          <p:nvPr/>
        </p:nvPicPr>
        <p:blipFill>
          <a:blip r:embed="rId4"/>
          <a:stretch>
            <a:fillRect/>
          </a:stretch>
        </p:blipFill>
        <p:spPr>
          <a:xfrm>
            <a:off x="3914457" y="1635760"/>
            <a:ext cx="4143356" cy="5251196"/>
          </a:xfrm>
          <a:prstGeom prst="rect">
            <a:avLst/>
          </a:prstGeom>
        </p:spPr>
      </p:pic>
    </p:spTree>
    <p:extLst>
      <p:ext uri="{BB962C8B-B14F-4D97-AF65-F5344CB8AC3E}">
        <p14:creationId xmlns:p14="http://schemas.microsoft.com/office/powerpoint/2010/main" val="3656788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C2C6-0E1D-0328-F908-2005F24A3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A4F09-7B76-3B90-EF0F-D9BE8B9C4F66}"/>
              </a:ext>
            </a:extLst>
          </p:cNvPr>
          <p:cNvSpPr>
            <a:spLocks noGrp="1"/>
          </p:cNvSpPr>
          <p:nvPr>
            <p:ph type="ctrTitle"/>
          </p:nvPr>
        </p:nvSpPr>
        <p:spPr>
          <a:xfrm>
            <a:off x="101600" y="152400"/>
            <a:ext cx="3637280" cy="830072"/>
          </a:xfrm>
          <a:noFill/>
        </p:spPr>
        <p:txBody>
          <a:bodyPr>
            <a:noAutofit/>
          </a:bodyPr>
          <a:lstStyle/>
          <a:p>
            <a:r>
              <a:rPr lang="en-US" dirty="0"/>
              <a:t>SEABORN</a:t>
            </a:r>
          </a:p>
        </p:txBody>
      </p:sp>
      <p:sp>
        <p:nvSpPr>
          <p:cNvPr id="3" name="Subtitle 2">
            <a:extLst>
              <a:ext uri="{FF2B5EF4-FFF2-40B4-BE49-F238E27FC236}">
                <a16:creationId xmlns:a16="http://schemas.microsoft.com/office/drawing/2014/main" id="{2194784E-5002-EC3B-0DAE-1A619787B859}"/>
              </a:ext>
            </a:extLst>
          </p:cNvPr>
          <p:cNvSpPr>
            <a:spLocks noGrp="1"/>
          </p:cNvSpPr>
          <p:nvPr>
            <p:ph type="subTitle" idx="1"/>
          </p:nvPr>
        </p:nvSpPr>
        <p:spPr>
          <a:xfrm>
            <a:off x="396241" y="982472"/>
            <a:ext cx="11795760" cy="653288"/>
          </a:xfrm>
          <a:noFill/>
        </p:spPr>
        <p:txBody>
          <a:bodyPr>
            <a:noAutofit/>
          </a:bodyPr>
          <a:lstStyle/>
          <a:p>
            <a:pPr algn="just"/>
            <a:r>
              <a:rPr lang="en-US" sz="2000" dirty="0"/>
              <a:t>Seaborn is a Python data visualization library built on top of Matplotlib. It makes it easy to create beautiful, informative statistical graphics with just a few lines of code.</a:t>
            </a:r>
          </a:p>
        </p:txBody>
      </p:sp>
      <p:pic>
        <p:nvPicPr>
          <p:cNvPr id="5" name="Picture 4">
            <a:extLst>
              <a:ext uri="{FF2B5EF4-FFF2-40B4-BE49-F238E27FC236}">
                <a16:creationId xmlns:a16="http://schemas.microsoft.com/office/drawing/2014/main" id="{7C7DFB09-A74C-A4F6-A0CA-087F20A65701}"/>
              </a:ext>
            </a:extLst>
          </p:cNvPr>
          <p:cNvPicPr>
            <a:picLocks noChangeAspect="1"/>
          </p:cNvPicPr>
          <p:nvPr/>
        </p:nvPicPr>
        <p:blipFill>
          <a:blip r:embed="rId2"/>
          <a:stretch>
            <a:fillRect/>
          </a:stretch>
        </p:blipFill>
        <p:spPr>
          <a:xfrm>
            <a:off x="133131" y="1635760"/>
            <a:ext cx="3738880" cy="5464556"/>
          </a:xfrm>
          <a:prstGeom prst="rect">
            <a:avLst/>
          </a:prstGeom>
        </p:spPr>
      </p:pic>
      <p:pic>
        <p:nvPicPr>
          <p:cNvPr id="8" name="Picture 7">
            <a:extLst>
              <a:ext uri="{FF2B5EF4-FFF2-40B4-BE49-F238E27FC236}">
                <a16:creationId xmlns:a16="http://schemas.microsoft.com/office/drawing/2014/main" id="{65E5D686-524E-A279-BF5E-FBB9F589A594}"/>
              </a:ext>
            </a:extLst>
          </p:cNvPr>
          <p:cNvPicPr>
            <a:picLocks noChangeAspect="1"/>
          </p:cNvPicPr>
          <p:nvPr/>
        </p:nvPicPr>
        <p:blipFill>
          <a:blip r:embed="rId3"/>
          <a:stretch>
            <a:fillRect/>
          </a:stretch>
        </p:blipFill>
        <p:spPr>
          <a:xfrm>
            <a:off x="3973611" y="1635760"/>
            <a:ext cx="4021773" cy="4807331"/>
          </a:xfrm>
          <a:prstGeom prst="rect">
            <a:avLst/>
          </a:prstGeom>
        </p:spPr>
      </p:pic>
      <p:pic>
        <p:nvPicPr>
          <p:cNvPr id="12" name="Picture 11">
            <a:extLst>
              <a:ext uri="{FF2B5EF4-FFF2-40B4-BE49-F238E27FC236}">
                <a16:creationId xmlns:a16="http://schemas.microsoft.com/office/drawing/2014/main" id="{6C992BEE-FA88-DF71-316A-D8EBDC895F7B}"/>
              </a:ext>
            </a:extLst>
          </p:cNvPr>
          <p:cNvPicPr>
            <a:picLocks noChangeAspect="1"/>
          </p:cNvPicPr>
          <p:nvPr/>
        </p:nvPicPr>
        <p:blipFill>
          <a:blip r:embed="rId4"/>
          <a:stretch>
            <a:fillRect/>
          </a:stretch>
        </p:blipFill>
        <p:spPr>
          <a:xfrm>
            <a:off x="8049382" y="1635760"/>
            <a:ext cx="4021773" cy="4896040"/>
          </a:xfrm>
          <a:prstGeom prst="rect">
            <a:avLst/>
          </a:prstGeom>
        </p:spPr>
      </p:pic>
    </p:spTree>
    <p:extLst>
      <p:ext uri="{BB962C8B-B14F-4D97-AF65-F5344CB8AC3E}">
        <p14:creationId xmlns:p14="http://schemas.microsoft.com/office/powerpoint/2010/main" val="58590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ECF4C-CF92-EC25-1395-DFD7B7744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326D5-AE1D-B506-FF9D-C8F1074155E4}"/>
              </a:ext>
            </a:extLst>
          </p:cNvPr>
          <p:cNvSpPr>
            <a:spLocks noGrp="1"/>
          </p:cNvSpPr>
          <p:nvPr>
            <p:ph type="ctrTitle"/>
          </p:nvPr>
        </p:nvSpPr>
        <p:spPr>
          <a:xfrm>
            <a:off x="101600" y="152400"/>
            <a:ext cx="3637280" cy="830072"/>
          </a:xfrm>
          <a:noFill/>
        </p:spPr>
        <p:txBody>
          <a:bodyPr>
            <a:noAutofit/>
          </a:bodyPr>
          <a:lstStyle/>
          <a:p>
            <a:r>
              <a:rPr lang="en-US" dirty="0"/>
              <a:t>SEABORN</a:t>
            </a:r>
          </a:p>
        </p:txBody>
      </p:sp>
      <p:pic>
        <p:nvPicPr>
          <p:cNvPr id="9" name="Picture 8">
            <a:extLst>
              <a:ext uri="{FF2B5EF4-FFF2-40B4-BE49-F238E27FC236}">
                <a16:creationId xmlns:a16="http://schemas.microsoft.com/office/drawing/2014/main" id="{CDABB577-163D-67F3-A074-1A3B9FADBB1F}"/>
              </a:ext>
            </a:extLst>
          </p:cNvPr>
          <p:cNvPicPr>
            <a:picLocks noChangeAspect="1"/>
          </p:cNvPicPr>
          <p:nvPr/>
        </p:nvPicPr>
        <p:blipFill>
          <a:blip r:embed="rId2"/>
          <a:stretch>
            <a:fillRect/>
          </a:stretch>
        </p:blipFill>
        <p:spPr>
          <a:xfrm>
            <a:off x="120845" y="991838"/>
            <a:ext cx="3475795" cy="5713762"/>
          </a:xfrm>
          <a:prstGeom prst="rect">
            <a:avLst/>
          </a:prstGeom>
        </p:spPr>
      </p:pic>
      <p:pic>
        <p:nvPicPr>
          <p:cNvPr id="11" name="Picture 10">
            <a:extLst>
              <a:ext uri="{FF2B5EF4-FFF2-40B4-BE49-F238E27FC236}">
                <a16:creationId xmlns:a16="http://schemas.microsoft.com/office/drawing/2014/main" id="{47CA3ED4-6FB4-0982-27C4-0138A210A29E}"/>
              </a:ext>
            </a:extLst>
          </p:cNvPr>
          <p:cNvPicPr>
            <a:picLocks noChangeAspect="1"/>
          </p:cNvPicPr>
          <p:nvPr/>
        </p:nvPicPr>
        <p:blipFill>
          <a:blip r:embed="rId3"/>
          <a:stretch>
            <a:fillRect/>
          </a:stretch>
        </p:blipFill>
        <p:spPr>
          <a:xfrm>
            <a:off x="3738880" y="982472"/>
            <a:ext cx="8332275" cy="5713762"/>
          </a:xfrm>
          <a:prstGeom prst="rect">
            <a:avLst/>
          </a:prstGeom>
        </p:spPr>
      </p:pic>
    </p:spTree>
    <p:extLst>
      <p:ext uri="{BB962C8B-B14F-4D97-AF65-F5344CB8AC3E}">
        <p14:creationId xmlns:p14="http://schemas.microsoft.com/office/powerpoint/2010/main" val="2165877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1826-FD19-978E-1B23-CC7CA43A7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CC41B-B8FD-CE0D-3BC2-5FD331349082}"/>
              </a:ext>
            </a:extLst>
          </p:cNvPr>
          <p:cNvSpPr>
            <a:spLocks noGrp="1"/>
          </p:cNvSpPr>
          <p:nvPr>
            <p:ph type="ctrTitle"/>
          </p:nvPr>
        </p:nvSpPr>
        <p:spPr>
          <a:xfrm>
            <a:off x="101599" y="152400"/>
            <a:ext cx="4384675" cy="830072"/>
          </a:xfrm>
          <a:noFill/>
        </p:spPr>
        <p:txBody>
          <a:bodyPr>
            <a:noAutofit/>
          </a:bodyPr>
          <a:lstStyle/>
          <a:p>
            <a:r>
              <a:rPr lang="en-US" dirty="0"/>
              <a:t>MATPLOTLIB </a:t>
            </a:r>
          </a:p>
        </p:txBody>
      </p:sp>
      <p:sp>
        <p:nvSpPr>
          <p:cNvPr id="3" name="Subtitle 2">
            <a:extLst>
              <a:ext uri="{FF2B5EF4-FFF2-40B4-BE49-F238E27FC236}">
                <a16:creationId xmlns:a16="http://schemas.microsoft.com/office/drawing/2014/main" id="{7EE31AE4-82F2-7014-B37E-45B5F2C6B665}"/>
              </a:ext>
            </a:extLst>
          </p:cNvPr>
          <p:cNvSpPr>
            <a:spLocks noGrp="1"/>
          </p:cNvSpPr>
          <p:nvPr>
            <p:ph type="subTitle" idx="1"/>
          </p:nvPr>
        </p:nvSpPr>
        <p:spPr>
          <a:xfrm>
            <a:off x="396241" y="982472"/>
            <a:ext cx="11795760" cy="653288"/>
          </a:xfrm>
          <a:noFill/>
        </p:spPr>
        <p:txBody>
          <a:bodyPr>
            <a:noAutofit/>
          </a:bodyPr>
          <a:lstStyle/>
          <a:p>
            <a:pPr algn="just"/>
            <a:r>
              <a:rPr lang="en-US" sz="2000" dirty="0"/>
              <a:t>Matplotlib is a Python library for creating static, animated, and interactive plots. It’s widely used for visualizing data in science, ML, and analytics.</a:t>
            </a:r>
          </a:p>
        </p:txBody>
      </p:sp>
      <p:pic>
        <p:nvPicPr>
          <p:cNvPr id="5" name="Picture 4">
            <a:extLst>
              <a:ext uri="{FF2B5EF4-FFF2-40B4-BE49-F238E27FC236}">
                <a16:creationId xmlns:a16="http://schemas.microsoft.com/office/drawing/2014/main" id="{D0B9A45B-D29F-A10A-5111-5A3A8DB69936}"/>
              </a:ext>
            </a:extLst>
          </p:cNvPr>
          <p:cNvPicPr>
            <a:picLocks noChangeAspect="1"/>
          </p:cNvPicPr>
          <p:nvPr/>
        </p:nvPicPr>
        <p:blipFill>
          <a:blip r:embed="rId2"/>
          <a:stretch>
            <a:fillRect/>
          </a:stretch>
        </p:blipFill>
        <p:spPr>
          <a:xfrm>
            <a:off x="396241" y="1635760"/>
            <a:ext cx="5484582" cy="4568952"/>
          </a:xfrm>
          <a:prstGeom prst="rect">
            <a:avLst/>
          </a:prstGeom>
        </p:spPr>
      </p:pic>
      <p:pic>
        <p:nvPicPr>
          <p:cNvPr id="8" name="Picture 7">
            <a:extLst>
              <a:ext uri="{FF2B5EF4-FFF2-40B4-BE49-F238E27FC236}">
                <a16:creationId xmlns:a16="http://schemas.microsoft.com/office/drawing/2014/main" id="{2162E52E-31D9-CFC8-74A2-604200E3CE7E}"/>
              </a:ext>
            </a:extLst>
          </p:cNvPr>
          <p:cNvPicPr>
            <a:picLocks noChangeAspect="1"/>
          </p:cNvPicPr>
          <p:nvPr/>
        </p:nvPicPr>
        <p:blipFill>
          <a:blip r:embed="rId3"/>
          <a:stretch>
            <a:fillRect/>
          </a:stretch>
        </p:blipFill>
        <p:spPr>
          <a:xfrm>
            <a:off x="6080436" y="1635760"/>
            <a:ext cx="6106377" cy="4568953"/>
          </a:xfrm>
          <a:prstGeom prst="rect">
            <a:avLst/>
          </a:prstGeom>
        </p:spPr>
      </p:pic>
    </p:spTree>
    <p:extLst>
      <p:ext uri="{BB962C8B-B14F-4D97-AF65-F5344CB8AC3E}">
        <p14:creationId xmlns:p14="http://schemas.microsoft.com/office/powerpoint/2010/main" val="1281159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99C3A-7235-EB86-9834-7CBAF47C4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C1530-A85B-DC72-66E2-99656B19BAC0}"/>
              </a:ext>
            </a:extLst>
          </p:cNvPr>
          <p:cNvSpPr>
            <a:spLocks noGrp="1"/>
          </p:cNvSpPr>
          <p:nvPr>
            <p:ph type="ctrTitle"/>
          </p:nvPr>
        </p:nvSpPr>
        <p:spPr>
          <a:xfrm>
            <a:off x="101599" y="152400"/>
            <a:ext cx="4384675" cy="830072"/>
          </a:xfrm>
          <a:noFill/>
        </p:spPr>
        <p:txBody>
          <a:bodyPr>
            <a:noAutofit/>
          </a:bodyPr>
          <a:lstStyle/>
          <a:p>
            <a:r>
              <a:rPr lang="en-US" dirty="0"/>
              <a:t>MATPLOTLIB </a:t>
            </a:r>
          </a:p>
        </p:txBody>
      </p:sp>
      <p:pic>
        <p:nvPicPr>
          <p:cNvPr id="9" name="Picture 8">
            <a:extLst>
              <a:ext uri="{FF2B5EF4-FFF2-40B4-BE49-F238E27FC236}">
                <a16:creationId xmlns:a16="http://schemas.microsoft.com/office/drawing/2014/main" id="{6D51407E-F1D0-3C49-DD32-7A6E7140C61C}"/>
              </a:ext>
            </a:extLst>
          </p:cNvPr>
          <p:cNvPicPr>
            <a:picLocks noChangeAspect="1"/>
          </p:cNvPicPr>
          <p:nvPr/>
        </p:nvPicPr>
        <p:blipFill>
          <a:blip r:embed="rId2"/>
          <a:stretch>
            <a:fillRect/>
          </a:stretch>
        </p:blipFill>
        <p:spPr>
          <a:xfrm>
            <a:off x="4699001" y="871180"/>
            <a:ext cx="3927476" cy="5115639"/>
          </a:xfrm>
          <a:prstGeom prst="rect">
            <a:avLst/>
          </a:prstGeom>
        </p:spPr>
      </p:pic>
      <p:pic>
        <p:nvPicPr>
          <p:cNvPr id="13" name="Picture 12">
            <a:extLst>
              <a:ext uri="{FF2B5EF4-FFF2-40B4-BE49-F238E27FC236}">
                <a16:creationId xmlns:a16="http://schemas.microsoft.com/office/drawing/2014/main" id="{79923B95-EABB-F0A1-AC99-0030197C0BAB}"/>
              </a:ext>
            </a:extLst>
          </p:cNvPr>
          <p:cNvPicPr>
            <a:picLocks noChangeAspect="1"/>
          </p:cNvPicPr>
          <p:nvPr/>
        </p:nvPicPr>
        <p:blipFill>
          <a:blip r:embed="rId3"/>
          <a:stretch>
            <a:fillRect/>
          </a:stretch>
        </p:blipFill>
        <p:spPr>
          <a:xfrm>
            <a:off x="209550" y="871180"/>
            <a:ext cx="4381500" cy="5115638"/>
          </a:xfrm>
          <a:prstGeom prst="rect">
            <a:avLst/>
          </a:prstGeom>
        </p:spPr>
      </p:pic>
      <p:pic>
        <p:nvPicPr>
          <p:cNvPr id="15" name="Picture 14">
            <a:extLst>
              <a:ext uri="{FF2B5EF4-FFF2-40B4-BE49-F238E27FC236}">
                <a16:creationId xmlns:a16="http://schemas.microsoft.com/office/drawing/2014/main" id="{FEFE1557-4835-B2C1-61F4-EF21B1835988}"/>
              </a:ext>
            </a:extLst>
          </p:cNvPr>
          <p:cNvPicPr>
            <a:picLocks noChangeAspect="1"/>
          </p:cNvPicPr>
          <p:nvPr/>
        </p:nvPicPr>
        <p:blipFill>
          <a:blip r:embed="rId4"/>
          <a:stretch>
            <a:fillRect/>
          </a:stretch>
        </p:blipFill>
        <p:spPr>
          <a:xfrm>
            <a:off x="8734428" y="871180"/>
            <a:ext cx="3355974" cy="5115638"/>
          </a:xfrm>
          <a:prstGeom prst="rect">
            <a:avLst/>
          </a:prstGeom>
        </p:spPr>
      </p:pic>
    </p:spTree>
    <p:extLst>
      <p:ext uri="{BB962C8B-B14F-4D97-AF65-F5344CB8AC3E}">
        <p14:creationId xmlns:p14="http://schemas.microsoft.com/office/powerpoint/2010/main" val="220998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4086415" y="685800"/>
            <a:ext cx="4019169" cy="2743200"/>
          </a:xfrm>
          <a:noFill/>
        </p:spPr>
        <p:txBody>
          <a:bodyPr anchor="b">
            <a:noAutofit/>
          </a:bodyPr>
          <a:lstStyle/>
          <a:p>
            <a:r>
              <a:rPr lang="en-US"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C07E3D-60A7-4F4E-8208-D9CCD01982C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119</TotalTime>
  <Words>290</Words>
  <Application>Microsoft Office PowerPoint</Application>
  <PresentationFormat>Widescreen</PresentationFormat>
  <Paragraphs>31</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Custom</vt:lpstr>
      <vt:lpstr>Project : SkillMatch Resume Matcher and Skill Recommendertegies</vt:lpstr>
      <vt:lpstr>Agenda</vt:lpstr>
      <vt:lpstr>What is Artificial Intelligence (AI) ?</vt:lpstr>
      <vt:lpstr>What is Machine Learning (ML) ?</vt:lpstr>
      <vt:lpstr>Application Machine Learning (ML) </vt:lpstr>
      <vt:lpstr>NUMPY</vt:lpstr>
      <vt:lpstr>PANDAS</vt:lpstr>
      <vt:lpstr>SEABORN</vt:lpstr>
      <vt:lpstr>SEABORN</vt:lpstr>
      <vt:lpstr>MATPLOTLIB </vt:lpstr>
      <vt:lpstr>MATPLOTLIB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EZHIL ARASAN</dc:creator>
  <cp:lastModifiedBy>EZHIL ARASAN</cp:lastModifiedBy>
  <cp:revision>2</cp:revision>
  <dcterms:created xsi:type="dcterms:W3CDTF">2025-11-03T06:16:10Z</dcterms:created>
  <dcterms:modified xsi:type="dcterms:W3CDTF">2025-11-03T18:05:28Z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